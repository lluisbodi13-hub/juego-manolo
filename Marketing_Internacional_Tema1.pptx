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tema 1: qué es la globalización, cómo funciona el mercado y el consumidor, cómo se internacionaliza una empresa y qué instituciones la apoyan.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globalización integra los mercados nacionales en uno global. Se explica por cuatro factores y se nota a cuatro escalas. Para medirla en una empresa se usa el índice de transnacionalidad: la media entre actividad en el extranjero y actividad total, según ventas, activos y trabajadores. Consecuencia para el marketing (Kotler): marketing de relaciones, valor y cuota de cliente, individualización, bases de datos y comunicación integrada.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organización y el mercado intercambian flujos físicos (bienes por dinero) y de información. Desde la oferta, el mercado lo forman el sector y la competencia; desde la demanda, quienes necesitan el producto y pueden y quieren comprarlo. Ejemplo de límites: el turismo de sol y playa (físicos, perfil de turista, estacionalidad).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Recuerda: lo que distingue un mercado de consumo de uno organizacional es para qué se usa el producto (comida para casa frente a comida para un restaurante). Servicios: no se pueden tocar (intangibles), se producen y consumen a la vez (inseparables), su calidad depende de quién y cuándo (variables) y no se almacenan (caducidad).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compras mezclan motivos racionales y emocionales: al comprar un coche pesa la información, pero también la marca, el diseño o el color. El marketing internacional usa los mismos instrumentos que el nacional; lo que cambia son estos dos factores de distancia.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salir fuera la empresa no abandona su mercado nacional: cambia su forma de enfocar el marketing. Del enfoque nacional se pasa a adaptar a cada país (policéntrica), luego a regiones parecidas (regiocéntrica) y por último a una visión global y estandarizada (geocéntrica).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internacionalización es gradual, aunque no todas las empresas pasan por todas las etapas: las pymes dependen de su financiación y las tecnológicas pueden empezar ya en la exportación regular. Otras motivaciones: incentivos públicos (ICEX) y la vocación de los directivos. Otros obstáculos: adaptar la capacidad productiva y el suministro.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ICEX: 31 direcciones provinciales y territoriales, casi 100 oficinas económicas y comerciales y 27 centros de negocios que hacen de incubadoras. Apoya ferias, financiación, formación e imagen de España, y atrae inversión extranjera.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Tema 1 · Nociones básicas del marketing internacional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Nociones básicas del marketing internacional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Tema 1 · Resumen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0" y="1097280"/>
            <a:ext cx="2743200" cy="2743200"/>
          </a:xfrm>
          <a:prstGeom prst="ellipse">
            <a:avLst/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0020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Globalización · Mercado · Consumidor · Internacionalización · Instituciones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La globalización de los mercados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se produce?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6404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463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Tecnologías (TIC)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Integradas en todos los ámbitos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4176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Producción más eficiente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Gracias a las nuevas tecnologías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31949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Liberalización económica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Políticas de libre mercado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4" y="397215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Países emergentes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China, India o Brasil ganan peso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en los que actúa</a:t>
            </a:r>
            <a:endParaRPr lang="en-US" sz="1600" dirty="0"/>
          </a:p>
        </p:txBody>
      </p:sp>
      <p:sp>
        <p:nvSpPr>
          <p:cNvPr id="17" name="nivel0"/>
          <p:cNvSpPr/>
          <p:nvPr/>
        </p:nvSpPr>
        <p:spPr>
          <a:xfrm>
            <a:off x="4663440" y="14630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4800600" y="1463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Mundial: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Interdependencia entre economías</a:t>
            </a:r>
            <a:endParaRPr lang="en-US" sz="1400" dirty="0"/>
          </a:p>
        </p:txBody>
      </p:sp>
      <p:sp>
        <p:nvSpPr>
          <p:cNvPr id="19" name="nivel1"/>
          <p:cNvSpPr/>
          <p:nvPr/>
        </p:nvSpPr>
        <p:spPr>
          <a:xfrm>
            <a:off x="4663440" y="224028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800600" y="22402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Nacional: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Comercio exterior frente al PIB</a:t>
            </a:r>
            <a:endParaRPr lang="en-US" sz="1400" dirty="0"/>
          </a:p>
        </p:txBody>
      </p:sp>
      <p:sp>
        <p:nvSpPr>
          <p:cNvPr id="21" name="nivel2"/>
          <p:cNvSpPr/>
          <p:nvPr/>
        </p:nvSpPr>
        <p:spPr>
          <a:xfrm>
            <a:off x="4663440" y="30175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800600" y="30175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Sectorial: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Concentración: fusiones y absorciones</a:t>
            </a:r>
            <a:endParaRPr lang="en-US" sz="1400" dirty="0"/>
          </a:p>
        </p:txBody>
      </p:sp>
      <p:sp>
        <p:nvSpPr>
          <p:cNvPr id="23" name="nivel3"/>
          <p:cNvSpPr/>
          <p:nvPr/>
        </p:nvSpPr>
        <p:spPr>
          <a:xfrm>
            <a:off x="4663440" y="37947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800600" y="3794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Empresarial: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Índice de transnacionalidad: ventas, activos y empleados en el exterior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El mercado: concepto, estructura y límites</a:t>
            </a:r>
            <a:endParaRPr lang="en-US" sz="2800" dirty="0"/>
          </a:p>
        </p:txBody>
      </p:sp>
      <p:sp>
        <p:nvSpPr>
          <p:cNvPr id="3" name="definicion"/>
          <p:cNvSpPr/>
          <p:nvPr/>
        </p:nvSpPr>
        <p:spPr>
          <a:xfrm>
            <a:off x="45720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Mercado: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personas u organizaciones con una necesidad, capacidad de compra y voluntad de adquirir un producto o servicio.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286000" cy="22860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9718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Potencial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Actual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4231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Mercado actual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Quienes ya compran el producto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Mercado potencial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Máximo de posibles compradores; meta del marketing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del mercado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1686154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57784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Físicos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Territorio: local, regional, nacional o internacional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2423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255483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778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Según los consumidores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Edad, renta, etnia, cultura…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846320" y="3291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994" y="34235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57784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Según el 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Ej.: el helado pasa de verano a postre todo el año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Los límites son relativos: la estrategia puede ampliarlos.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Clasificación de los mercados</a:t>
            </a:r>
            <a:endParaRPr lang="en-US" sz="2800" dirty="0"/>
          </a:p>
        </p:txBody>
      </p:sp>
      <p:sp>
        <p:nvSpPr>
          <p:cNvPr id="3" name="clase0"/>
          <p:cNvSpPr/>
          <p:nvPr/>
        </p:nvSpPr>
        <p:spPr>
          <a:xfrm>
            <a:off x="457200" y="100584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Según la oferta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8988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Monopolio: un único oferente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Oligopolio: pocos (aerolíneas, telefonía)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Comp. monopolística: muchos y diferenciados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Comp. perfecta: muchos y homogéneos</a:t>
            </a:r>
            <a:endParaRPr lang="en-US" sz="1200" dirty="0"/>
          </a:p>
        </p:txBody>
      </p:sp>
      <p:sp>
        <p:nvSpPr>
          <p:cNvPr id="6" name="clase1"/>
          <p:cNvSpPr/>
          <p:nvPr/>
        </p:nvSpPr>
        <p:spPr>
          <a:xfrm>
            <a:off x="4663440" y="100584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Según la demanda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38988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Consumo: inmediato, duradero y servicios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Organizacionales: industriales, intermediarios e institucionales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 decide el uso, no el producto</a:t>
            </a:r>
            <a:endParaRPr lang="en-US" sz="1200" dirty="0"/>
          </a:p>
        </p:txBody>
      </p:sp>
      <p:sp>
        <p:nvSpPr>
          <p:cNvPr id="9" name="clase2"/>
          <p:cNvSpPr/>
          <p:nvPr/>
        </p:nvSpPr>
        <p:spPr>
          <a:xfrm>
            <a:off x="457200" y="24688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Según el tipo de producto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85292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Agropecuarios · materias primas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Manufacturados · servicios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Activos financieros · ideas</a:t>
            </a:r>
            <a:endParaRPr lang="en-US" sz="1200" dirty="0"/>
          </a:p>
        </p:txBody>
      </p:sp>
      <p:sp>
        <p:nvSpPr>
          <p:cNvPr id="12" name="clase3"/>
          <p:cNvSpPr/>
          <p:nvPr/>
        </p:nvSpPr>
        <p:spPr>
          <a:xfrm>
            <a:off x="4663440" y="24688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Según la zona geográfica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5292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Local · regional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Nacional · internacional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Servicios: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08760" y="4069080"/>
            <a:ext cx="16916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069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Intangibilidad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9272" y="4069080"/>
            <a:ext cx="16916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19272" y="4069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Inseparabilidad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9784" y="4069080"/>
            <a:ext cx="16916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9784" y="4069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Variabilidad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0296" y="4069080"/>
            <a:ext cx="16916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0296" y="40690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Caducidad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El consumidor y el marketing internacional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Conducta del consumidor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Cómo la persona selecciona, compra, usa y desecha productos para satisfacer necesidades. Todo empieza por la necesidad.</a:t>
            </a:r>
            <a:endParaRPr lang="en-US" sz="1300" dirty="0"/>
          </a:p>
        </p:txBody>
      </p:sp>
      <p:sp>
        <p:nvSpPr>
          <p:cNvPr id="5" name="motivo0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4871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34" y="2618842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2402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Motivos racionales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Lógica y comparación; compras de alta implicación (coche)</a:t>
            </a:r>
            <a:endParaRPr lang="en-US" sz="1300" dirty="0"/>
          </a:p>
        </p:txBody>
      </p:sp>
      <p:sp>
        <p:nvSpPr>
          <p:cNvPr id="9" name="motivo1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3675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4" y="380756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Motivos emocionales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Distinción, autoestima, impulso; compras habituales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internacional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1371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Estrategias y acciones para vender en mercados internacionales aprovechando la globalización.</a:t>
            </a:r>
            <a:endParaRPr lang="en-US" sz="1300" dirty="0"/>
          </a:p>
        </p:txBody>
      </p:sp>
      <p:sp>
        <p:nvSpPr>
          <p:cNvPr id="15" name="distancia0"/>
          <p:cNvSpPr/>
          <p:nvPr/>
        </p:nvSpPr>
        <p:spPr>
          <a:xfrm>
            <a:off x="4846320" y="224028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/>
        </p:spPr>
      </p:sp>
      <p:sp>
        <p:nvSpPr>
          <p:cNvPr id="16" name="Shape 12"/>
          <p:cNvSpPr/>
          <p:nvPr/>
        </p:nvSpPr>
        <p:spPr>
          <a:xfrm>
            <a:off x="4983480" y="248716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154" y="261884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69280" y="2240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Distancia física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Entre el centro de producción y el consumidor</a:t>
            </a:r>
            <a:endParaRPr lang="en-US" sz="1300" dirty="0"/>
          </a:p>
        </p:txBody>
      </p:sp>
      <p:sp>
        <p:nvSpPr>
          <p:cNvPr id="19" name="distancia1"/>
          <p:cNvSpPr/>
          <p:nvPr/>
        </p:nvSpPr>
        <p:spPr>
          <a:xfrm>
            <a:off x="4846320" y="3429000"/>
            <a:ext cx="3840480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/>
        </p:spPr>
      </p:sp>
      <p:sp>
        <p:nvSpPr>
          <p:cNvPr id="20" name="Shape 15"/>
          <p:cNvSpPr/>
          <p:nvPr/>
        </p:nvSpPr>
        <p:spPr>
          <a:xfrm>
            <a:off x="4983480" y="367588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80756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4290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Distancia psicológica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Diferencias culturales, legales, políticas y económicas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Orientaciones hacia los mercados exteriores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Nacional</a:t>
            </a:r>
            <a:endParaRPr lang="en-US" sz="1400" dirty="0"/>
          </a:p>
        </p:txBody>
      </p:sp>
      <p:sp>
        <p:nvSpPr>
          <p:cNvPr id="5" name="ori0"/>
          <p:cNvSpPr/>
          <p:nvPr/>
        </p:nvSpPr>
        <p:spPr>
          <a:xfrm>
            <a:off x="457200" y="1874520"/>
            <a:ext cx="1517904" cy="16916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Empresa nacional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el mercado de origen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Marketing nacional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30552" y="109728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30552" y="10972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Etnocéntrica</a:t>
            </a:r>
            <a:endParaRPr lang="en-US" sz="1400" dirty="0"/>
          </a:p>
        </p:txBody>
      </p:sp>
      <p:sp>
        <p:nvSpPr>
          <p:cNvPr id="9" name="ori1"/>
          <p:cNvSpPr/>
          <p:nvPr/>
        </p:nvSpPr>
        <p:spPr>
          <a:xfrm>
            <a:off x="2130552" y="1874520"/>
            <a:ext cx="1517904" cy="16916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21992" y="196596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Internacional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Referencia: el mercado nacional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Extiende las decisiones nacionales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109728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03904" y="10972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Policéntrica</a:t>
            </a:r>
            <a:endParaRPr lang="en-US" sz="1400" dirty="0"/>
          </a:p>
        </p:txBody>
      </p:sp>
      <p:sp>
        <p:nvSpPr>
          <p:cNvPr id="13" name="ori2"/>
          <p:cNvSpPr/>
          <p:nvPr/>
        </p:nvSpPr>
        <p:spPr>
          <a:xfrm>
            <a:off x="3803904" y="1874520"/>
            <a:ext cx="1517904" cy="16916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95344" y="196596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Multinacional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país es único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Adapta a cada territorio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77256" y="109728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77256" y="10972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Regiocéntrica</a:t>
            </a:r>
            <a:endParaRPr lang="en-US" sz="1400" dirty="0"/>
          </a:p>
        </p:txBody>
      </p:sp>
      <p:sp>
        <p:nvSpPr>
          <p:cNvPr id="17" name="ori3"/>
          <p:cNvSpPr/>
          <p:nvPr/>
        </p:nvSpPr>
        <p:spPr>
          <a:xfrm>
            <a:off x="5477256" y="1874520"/>
            <a:ext cx="1517904" cy="16916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68696" y="196596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Multinacional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Zonas con rasgos comunes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Adapta por regiones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50608" y="1097280"/>
            <a:ext cx="1517904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50608" y="109728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Geocéntrica</a:t>
            </a:r>
            <a:endParaRPr lang="en-US" sz="1400" dirty="0"/>
          </a:p>
        </p:txBody>
      </p:sp>
      <p:sp>
        <p:nvSpPr>
          <p:cNvPr id="21" name="ori4"/>
          <p:cNvSpPr/>
          <p:nvPr/>
        </p:nvSpPr>
        <p:spPr>
          <a:xfrm>
            <a:off x="7150608" y="1874520"/>
            <a:ext cx="1517904" cy="16916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42048" y="1965960"/>
            <a:ext cx="13350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Global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mundo es un mercado único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Estrategia global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36576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Más estandarización e integración global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Fuente: Keegan (1997), Tabla 1.1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El proceso de internacionalización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057400"/>
            <a:ext cx="1572768" cy="11887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2130552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Exportación pasiva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Atiende pedidos que llegan; riesgo nulo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21408" y="1801368"/>
            <a:ext cx="1572768" cy="1444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94560" y="1874520"/>
            <a:ext cx="14264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Exportación experimental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Adapta envase; mercados cercanos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85616" y="1545336"/>
            <a:ext cx="1572768" cy="170078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58768" y="1618488"/>
            <a:ext cx="1426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Exportación regular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Controla operaciones; dpto. internacional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9824" y="1289304"/>
            <a:ext cx="1572768" cy="19568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22976" y="1362456"/>
            <a:ext cx="14264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4. Filiales en el extranjero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Venta propia; más riesgo y control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14032" y="1033272"/>
            <a:ext cx="1572768" cy="221284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87184" y="1106424"/>
            <a:ext cx="14264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5. Centros de producción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Produce fuera; compromiso máximo</a:t>
            </a:r>
            <a:endParaRPr lang="en-US" sz="1400" dirty="0"/>
          </a:p>
        </p:txBody>
      </p:sp>
      <p:sp>
        <p:nvSpPr>
          <p:cNvPr id="13" name="Motivaciones"/>
          <p:cNvSpPr/>
          <p:nvPr/>
        </p:nvSpPr>
        <p:spPr>
          <a:xfrm>
            <a:off x="457200" y="338328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Motivaciones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21608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Mercado propio saturado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Menos competencia fuera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Seguir a un cliente clave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721608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Cerca de materias primas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Diversificar el riesgo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Responder a competidores</a:t>
            </a:r>
            <a:endParaRPr lang="en-US" sz="1100" dirty="0"/>
          </a:p>
        </p:txBody>
      </p:sp>
      <p:sp>
        <p:nvSpPr>
          <p:cNvPr id="17" name="Obstáculos"/>
          <p:cNvSpPr/>
          <p:nvPr/>
        </p:nvSpPr>
        <p:spPr>
          <a:xfrm>
            <a:off x="4663440" y="3383280"/>
            <a:ext cx="402336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Obstáculos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721608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Falta de financiación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Ver oportunidades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Barreras burocráticas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721608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Fuerte competencia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Canales de distribución</a:t>
            </a:r>
            <a:endParaRPr lang="en-US" sz="11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Miedo al fracaso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Instituciones que promueven el comercio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Supranacionales</a:t>
            </a:r>
            <a:endParaRPr lang="en-US" sz="1600" dirty="0"/>
          </a:p>
        </p:txBody>
      </p:sp>
      <p:sp>
        <p:nvSpPr>
          <p:cNvPr id="4" name="OMC"/>
          <p:cNvSpPr/>
          <p:nvPr/>
        </p:nvSpPr>
        <p:spPr>
          <a:xfrm>
            <a:off x="457200" y="141732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OMC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92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1995 · Ginebra. Sucesora del GATT; reglas del comercio multilateral</a:t>
            </a:r>
            <a:endParaRPr lang="en-US" sz="1200" dirty="0"/>
          </a:p>
        </p:txBody>
      </p:sp>
      <p:sp>
        <p:nvSpPr>
          <p:cNvPr id="7" name="UNCTAD"/>
          <p:cNvSpPr/>
          <p:nvPr/>
        </p:nvSpPr>
        <p:spPr>
          <a:xfrm>
            <a:off x="2971800" y="141732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UNCTAD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8928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1964 · ONU. Comercio y desarrollo de países en vías de desarrollo</a:t>
            </a:r>
            <a:endParaRPr lang="en-US" sz="1200" dirty="0"/>
          </a:p>
        </p:txBody>
      </p:sp>
      <p:sp>
        <p:nvSpPr>
          <p:cNvPr id="10" name="OCDE"/>
          <p:cNvSpPr/>
          <p:nvPr/>
        </p:nvSpPr>
        <p:spPr>
          <a:xfrm>
            <a:off x="4572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930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1961 · París. Crecimiento sostenible y cooperación entre Gobiernos</a:t>
            </a:r>
            <a:endParaRPr lang="en-US" sz="1200" dirty="0"/>
          </a:p>
        </p:txBody>
      </p:sp>
      <p:sp>
        <p:nvSpPr>
          <p:cNvPr id="13" name="ICC"/>
          <p:cNvSpPr/>
          <p:nvPr/>
        </p:nvSpPr>
        <p:spPr>
          <a:xfrm>
            <a:off x="2971800" y="301752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89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49300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1919 · París. Representa a las empresas en todo el mundo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Nacionales (España)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1675181"/>
            <a:ext cx="261518" cy="26151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309360" y="14173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Secretaría de Estado de Comercio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DG Comercio Interior y DG Comercio e Inversiones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0" y="26243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981" y="2745029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09360" y="24871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ICEX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Apoyo a exportar e invertir: ~100 oficinas en el exterior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669280" y="369417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981" y="3814877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309360" y="355701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Cámaras de Comercio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Industria, Servicios y Navegación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g Internacional">
  <a:themeElements>
    <a:clrScheme name="Marketing Internacional">
      <a:dk1>
        <a:srgbClr val="222222"/>
      </a:dk1>
      <a:lt1>
        <a:srgbClr val="FFFFFF"/>
      </a:lt1>
      <a:dk2>
        <a:srgbClr val="2F3C7E"/>
      </a:dk2>
      <a:lt2>
        <a:srgbClr val="F7EDEE"/>
      </a:lt2>
      <a:accent1>
        <a:srgbClr val="990011"/>
      </a:accent1>
      <a:accent2>
        <a:srgbClr val="2F3C7E"/>
      </a:accent2>
      <a:accent3>
        <a:srgbClr val="D9A441"/>
      </a:accent3>
      <a:accent4>
        <a:srgbClr val="5A6372"/>
      </a:accent4>
      <a:accent5>
        <a:srgbClr val="C94A5A"/>
      </a:accent5>
      <a:accent6>
        <a:srgbClr val="E8EBF5"/>
      </a:accent6>
      <a:hlink>
        <a:srgbClr val="2F3C7E"/>
      </a:hlink>
      <a:folHlink>
        <a:srgbClr val="6D2E46"/>
      </a:folHlink>
    </a:clrScheme>
    <a:fontScheme name="Marketing Internacio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Nociones básicas del marketing internacional</dc:title>
  <dc:subject>PptxGenJS Presentation</dc:subject>
  <dc:creator>PptxGenJS</dc:creator>
  <cp:lastModifiedBy>PptxGenJS</cp:lastModifiedBy>
  <cp:revision>1</cp:revision>
  <dcterms:created xsi:type="dcterms:W3CDTF">2026-10-07T11:38:58Z</dcterms:created>
  <dcterms:modified xsi:type="dcterms:W3CDTF">2026-10-07T11:38:58Z</dcterms:modified>
</cp:coreProperties>
</file>